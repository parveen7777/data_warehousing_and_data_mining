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88" r:id="rId4"/>
    <p:sldId id="300" r:id="rId5"/>
    <p:sldId id="301" r:id="rId6"/>
    <p:sldId id="303" r:id="rId7"/>
    <p:sldId id="309" r:id="rId8"/>
    <p:sldId id="293" r:id="rId9"/>
    <p:sldId id="307" r:id="rId10"/>
    <p:sldId id="306" r:id="rId11"/>
    <p:sldId id="310" r:id="rId12"/>
    <p:sldId id="312" r:id="rId13"/>
    <p:sldId id="311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FC34"/>
    <a:srgbClr val="FAD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31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DD37-5AC6-45D6-8245-FEF0E0730A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FF4B-FD5C-431F-9386-97C9801A4D1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DD37-5AC6-45D6-8245-FEF0E0730A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FF4B-FD5C-431F-9386-97C9801A4D1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DD37-5AC6-45D6-8245-FEF0E0730A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FF4B-FD5C-431F-9386-97C9801A4D1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DD37-5AC6-45D6-8245-FEF0E0730AD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FF4B-FD5C-431F-9386-97C9801A4D1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DD37-5AC6-45D6-8245-FEF0E0730AD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FF4B-FD5C-431F-9386-97C9801A4D1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DD37-5AC6-45D6-8245-FEF0E0730AD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FF4B-FD5C-431F-9386-97C9801A4D1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DD37-5AC6-45D6-8245-FEF0E0730AD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FF4B-FD5C-431F-9386-97C9801A4D1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DD37-5AC6-45D6-8245-FEF0E0730AD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FF4B-FD5C-431F-9386-97C9801A4D1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DD37-5AC6-45D6-8245-FEF0E0730AD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FF4B-FD5C-431F-9386-97C9801A4D1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DD37-5AC6-45D6-8245-FEF0E0730A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FF4B-FD5C-431F-9386-97C9801A4D1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9DD37-5AC6-45D6-8245-FEF0E0730A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3FF4B-FD5C-431F-9386-97C9801A4D1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9DD37-5AC6-45D6-8245-FEF0E0730A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3FF4B-FD5C-431F-9386-97C9801A4D1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45962" y="-659780"/>
            <a:ext cx="720477" cy="1971123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25562" y="-659780"/>
            <a:ext cx="720477" cy="1971123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3" name="Freeform 13"/>
          <p:cNvSpPr/>
          <p:nvPr/>
        </p:nvSpPr>
        <p:spPr>
          <a:xfrm>
            <a:off x="428686" y="245334"/>
            <a:ext cx="1244599" cy="1223618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-168965" y="1627162"/>
            <a:ext cx="12360965" cy="3534753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en-US" sz="4700" b="1" dirty="0">
                <a:solidFill>
                  <a:srgbClr val="F06A3C"/>
                </a:solidFill>
                <a:latin typeface="Times New Roman" panose="02020603050405020304" pitchFamily="18" charset="0"/>
                <a:ea typeface="Celandine"/>
                <a:cs typeface="Times New Roman" panose="02020603050405020304" pitchFamily="18" charset="0"/>
                <a:sym typeface="Celandine"/>
              </a:rPr>
              <a:t>OPERATIONAL SYSTEMS(OS)</a:t>
            </a:r>
            <a:endParaRPr lang="en-US" altLang="en-US" sz="4700" b="1" dirty="0">
              <a:solidFill>
                <a:srgbClr val="F06A3C"/>
              </a:solidFill>
              <a:latin typeface="Times New Roman" panose="02020603050405020304" pitchFamily="18" charset="0"/>
              <a:ea typeface="Celandine"/>
              <a:cs typeface="Times New Roman" panose="02020603050405020304" pitchFamily="18" charset="0"/>
              <a:sym typeface="Celandine"/>
            </a:endParaRPr>
          </a:p>
          <a:p>
            <a:pPr algn="ctr">
              <a:lnSpc>
                <a:spcPct val="90000"/>
              </a:lnSpc>
            </a:pPr>
            <a:r>
              <a:rPr lang="en-US" altLang="en-US" sz="4700" b="1" dirty="0">
                <a:solidFill>
                  <a:srgbClr val="F06A3C"/>
                </a:solidFill>
                <a:latin typeface="Times New Roman" panose="02020603050405020304" pitchFamily="18" charset="0"/>
                <a:ea typeface="Celandine"/>
                <a:cs typeface="Times New Roman" panose="02020603050405020304" pitchFamily="18" charset="0"/>
                <a:sym typeface="Celandine"/>
              </a:rPr>
              <a:t>VS</a:t>
            </a:r>
            <a:endParaRPr lang="en-US" altLang="en-US" sz="4700" b="1" dirty="0">
              <a:solidFill>
                <a:srgbClr val="F06A3C"/>
              </a:solidFill>
              <a:latin typeface="Times New Roman" panose="02020603050405020304" pitchFamily="18" charset="0"/>
              <a:ea typeface="Celandine"/>
              <a:cs typeface="Times New Roman" panose="02020603050405020304" pitchFamily="18" charset="0"/>
              <a:sym typeface="Celandine"/>
            </a:endParaRPr>
          </a:p>
          <a:p>
            <a:pPr algn="ctr">
              <a:lnSpc>
                <a:spcPct val="90000"/>
              </a:lnSpc>
            </a:pPr>
            <a:r>
              <a:rPr lang="en-US" altLang="en-US" sz="4700" b="1" dirty="0">
                <a:solidFill>
                  <a:srgbClr val="F06A3C"/>
                </a:solidFill>
                <a:latin typeface="Times New Roman" panose="02020603050405020304" pitchFamily="18" charset="0"/>
                <a:ea typeface="Celandine"/>
                <a:cs typeface="Times New Roman" panose="02020603050405020304" pitchFamily="18" charset="0"/>
                <a:sym typeface="Celandine"/>
              </a:rPr>
              <a:t> DECISION SUPPORT SYSTEMS (DSS)</a:t>
            </a:r>
            <a:endParaRPr lang="en-US" altLang="en-US" sz="4700" b="1" dirty="0">
              <a:solidFill>
                <a:srgbClr val="F06A3C"/>
              </a:solidFill>
              <a:latin typeface="Times New Roman" panose="02020603050405020304" pitchFamily="18" charset="0"/>
              <a:ea typeface="Celandine"/>
              <a:cs typeface="Times New Roman" panose="02020603050405020304" pitchFamily="18" charset="0"/>
              <a:sym typeface="Celandin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599583" y="4462670"/>
            <a:ext cx="5592418" cy="160666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PRESENTED BY :</a:t>
            </a:r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  <a:p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PARVEEN (192462005)</a:t>
            </a:r>
            <a:endParaRPr 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  <a:p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SWETHAMBIGAI </a:t>
            </a: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(</a:t>
            </a: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192565064)</a:t>
            </a:r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  <a:p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S.SHAMAH ALI FATHIMA(192573002)</a:t>
            </a:r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  <a:p>
            <a:endParaRPr 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  <a:p>
            <a:endParaRPr 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59510" y="-70485"/>
            <a:ext cx="9790430" cy="192913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/>
                <a:cs typeface="Times New Roman" panose="02020603050405020304" pitchFamily="18" charset="0"/>
                <a:sym typeface="Century Gothic Paneuropean Bold"/>
              </a:rPr>
              <a:t>CSA1606 </a:t>
            </a:r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Century Gothic Paneuropean Bold"/>
              <a:cs typeface="Times New Roman" panose="02020603050405020304" pitchFamily="18" charset="0"/>
              <a:sym typeface="Century Gothic Paneuropean Bold"/>
            </a:endParaRPr>
          </a:p>
          <a:p>
            <a:pPr algn="ctr">
              <a:lnSpc>
                <a:spcPct val="150000"/>
              </a:lnSpc>
            </a:pP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/>
                <a:cs typeface="Times New Roman" panose="02020603050405020304" pitchFamily="18" charset="0"/>
                <a:sym typeface="Century Gothic Paneuropean Bold"/>
              </a:rPr>
              <a:t>DATA WAREHOUSING AND </a:t>
            </a: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Century Gothic Paneuropean Bold"/>
                <a:cs typeface="Times New Roman" panose="02020603050405020304" pitchFamily="18" charset="0"/>
                <a:sym typeface="Century Gothic Paneuropean Bold"/>
              </a:rPr>
              <a:t>DATA MINING</a:t>
            </a:r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Century Gothic Paneuropean Bold"/>
              <a:cs typeface="Times New Roman" panose="02020603050405020304" pitchFamily="18" charset="0"/>
              <a:sym typeface="Century Gothic Paneuropean Bold"/>
            </a:endParaRPr>
          </a:p>
          <a:p>
            <a:pPr algn="ctr">
              <a:lnSpc>
                <a:spcPct val="150000"/>
              </a:lnSpc>
            </a:pPr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Century Gothic Paneuropean Bold"/>
              <a:cs typeface="Times New Roman" panose="02020603050405020304" pitchFamily="18" charset="0"/>
              <a:sym typeface="Century Gothic Paneuropean Bold"/>
            </a:endParaRPr>
          </a:p>
        </p:txBody>
      </p:sp>
      <p:pic>
        <p:nvPicPr>
          <p:cNvPr id="18" name="Picture 1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9177" y="266116"/>
            <a:ext cx="1372827" cy="123813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6"/>
          <p:cNvSpPr txBox="1"/>
          <p:nvPr/>
        </p:nvSpPr>
        <p:spPr>
          <a:xfrm>
            <a:off x="428625" y="4055110"/>
            <a:ext cx="3679190" cy="17214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endParaRPr lang="en-IN" sz="2200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  <a:p>
            <a:r>
              <a:rPr lang="en-US" altLang="en-I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SUPERVISOR :</a:t>
            </a:r>
            <a:endParaRPr lang="en-IN" sz="2200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  <a:p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Dr. </a:t>
            </a:r>
            <a:r>
              <a:rPr lang="en-US" altLang="en-I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  <a:sym typeface="Playfair Display Bold"/>
              </a:rPr>
              <a:t>RENUGA S</a:t>
            </a:r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  <a:p>
            <a:endParaRPr lang="en-IN" sz="2200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  <a:p>
            <a:endParaRPr lang="en-IN" sz="2200" b="1" dirty="0">
              <a:solidFill>
                <a:srgbClr val="000000"/>
              </a:solidFill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  <a:sym typeface="Playfair Display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33550" cy="1657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850" y="0"/>
            <a:ext cx="1581150" cy="1419225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2722880" y="74930"/>
            <a:ext cx="6562090" cy="1924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5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98782" y="1488440"/>
            <a:ext cx="11993217" cy="4168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Organizations rely on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Operational Systems (OLTP)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to run day-to-day business transactions in real time.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Decision Support Systems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(DSS/OLAP)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analyze historical data to guide strategic business decisions.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Both systems serve different purposes but must work together for a complete data ecosystem.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OLTP systems prioritize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speed and accuracy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for daily operations such as sales, banking, and order processing.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OLAP systems prioritize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deep, multidimensional analysis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for spotting trends and forecasting outcomes.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Understanding this distinction is key to designing effective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data warehouse architectures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This topic explores their differences, performance, real-world use-cases, and integration strategies.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145962" y="-659780"/>
            <a:ext cx="720477" cy="1971123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5562" y="-659780"/>
            <a:ext cx="720477" cy="1971123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823720" y="69850"/>
            <a:ext cx="8742045" cy="272605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OLTP — OPERATIONAL SYSTEMS 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US" sz="5600" b="1" dirty="0">
              <a:solidFill>
                <a:srgbClr val="000000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</p:txBody>
      </p:sp>
      <p:sp>
        <p:nvSpPr>
          <p:cNvPr id="16" name="Freeform 13"/>
          <p:cNvSpPr/>
          <p:nvPr/>
        </p:nvSpPr>
        <p:spPr>
          <a:xfrm>
            <a:off x="428686" y="245334"/>
            <a:ext cx="1244599" cy="1223618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9177" y="266116"/>
            <a:ext cx="1372827" cy="123813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Box 13"/>
          <p:cNvSpPr txBox="1"/>
          <p:nvPr/>
        </p:nvSpPr>
        <p:spPr>
          <a:xfrm>
            <a:off x="428686" y="1858616"/>
            <a:ext cx="11976651" cy="60763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Online Transaction Processing (OLTP) systems run the day-to-day operations of a business.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They handle a large volume of short, simple, concurrent transactions like inserts and updates.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Examples include banking transactions, order entry, ticket booking, and inventory updates.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Data is normalized to reduce redundancy and maintain transactional consistency (ACID).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Response time is measured in milliseconds, since users need instant feedback.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Users are typically front-line staff, clerks, and customers performing routine tasks.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Popular examples: MySQL, PostgreSQL, and Oracle databases powering live applications.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145962" y="-659780"/>
            <a:ext cx="720477" cy="1971123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5562" y="-659780"/>
            <a:ext cx="720477" cy="1971123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73225" y="0"/>
            <a:ext cx="8742045" cy="272605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OLAP — DECISION SUPPORT SYSTEMS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US" sz="5600" b="1" dirty="0">
              <a:solidFill>
                <a:srgbClr val="000000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</p:txBody>
      </p:sp>
      <p:sp>
        <p:nvSpPr>
          <p:cNvPr id="16" name="Freeform 13"/>
          <p:cNvSpPr/>
          <p:nvPr/>
        </p:nvSpPr>
        <p:spPr>
          <a:xfrm>
            <a:off x="428686" y="245334"/>
            <a:ext cx="1244599" cy="1223618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9177" y="266116"/>
            <a:ext cx="1372827" cy="123813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Box 13"/>
          <p:cNvSpPr txBox="1"/>
          <p:nvPr/>
        </p:nvSpPr>
        <p:spPr>
          <a:xfrm>
            <a:off x="579120" y="1567815"/>
            <a:ext cx="11467106" cy="6367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Online Analytical Processing (OLAP) systems support analysis and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decision-making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across an organization.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Aggregates data from multiple sources into large, subject-oriented data warehouses.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Runs complex, long queries over huge historical datasets rather than single records.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Data is often denormalized into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star or snowflake schemas for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fast, complex analytical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queries.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Used by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managers and analysts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for reporting, dashboards, and forecasting.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Response time is measured in seconds or minutes since queries scan large volumes.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Popular examples: Amazon Redshift, Snowflake, Google BigQuery, and Microsoft SSAS.</a:t>
            </a:r>
            <a:endParaRPr lang="en-US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145962" y="-659780"/>
            <a:ext cx="720477" cy="1971123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5562" y="-659780"/>
            <a:ext cx="720477" cy="1971123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17980" y="69850"/>
            <a:ext cx="8947785" cy="272605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KEY DIFFERENCES: DATA &amp; USERS </a:t>
            </a: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</p:txBody>
      </p:sp>
      <p:sp>
        <p:nvSpPr>
          <p:cNvPr id="16" name="Freeform 13"/>
          <p:cNvSpPr/>
          <p:nvPr/>
        </p:nvSpPr>
        <p:spPr>
          <a:xfrm>
            <a:off x="428686" y="245334"/>
            <a:ext cx="1244599" cy="1223618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9177" y="266116"/>
            <a:ext cx="1372827" cy="123813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Box 13"/>
          <p:cNvSpPr txBox="1"/>
          <p:nvPr/>
        </p:nvSpPr>
        <p:spPr>
          <a:xfrm>
            <a:off x="854710" y="1127760"/>
            <a:ext cx="10716260" cy="680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endParaRPr lang="en-US" alt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3830" y="1511935"/>
          <a:ext cx="11864975" cy="4920615"/>
        </p:xfrm>
        <a:graphic>
          <a:graphicData uri="http://schemas.openxmlformats.org/drawingml/2006/table">
            <a:tbl>
              <a:tblPr/>
              <a:tblGrid>
                <a:gridCol w="508000"/>
                <a:gridCol w="1733550"/>
                <a:gridCol w="2908300"/>
                <a:gridCol w="1852930"/>
                <a:gridCol w="1472565"/>
                <a:gridCol w="1731010"/>
                <a:gridCol w="1658620"/>
              </a:tblGrid>
              <a:tr h="2691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S.No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Parameter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OLTP (Operational)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OLAP (DSS)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Key Distinction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OLTP Example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OLAP Example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894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  1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Data Detail Level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Current, detailed, operational data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   Historical, summarized, aggregated data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Level of detail differs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Live order record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Data warehouse snapshot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7056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  2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Data Volume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Small footprint per transaction (KB–MB)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Very large volumes (GB–TB) spanning years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Storage scale differs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Single customer order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5-year sales archive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8348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User Type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Clerks, tellers, front-line staff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Executives, managers, analysts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Skill level &amp; goals differ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Bank teller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CFO reviewing KPIs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9031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User Concurrency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Thousands of concurrent users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Small number of concurrent analysts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Concurrency levels differ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10,000 ATM users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20 business analysts</a:t>
                      </a:r>
                      <a:endParaRPr lang="en-US" alt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9415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Access Pattern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Read/write, short simple queries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Read-mostly, complex ad-hoc queries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Query style differs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UPDATE balance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GROUP BY region, SUM(sales)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145962" y="-659780"/>
            <a:ext cx="720477" cy="1971123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5562" y="-659780"/>
            <a:ext cx="720477" cy="1971123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184400" y="69850"/>
            <a:ext cx="8381365" cy="272605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IN" sz="4000" b="1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KEY DIFFERENCES: PURPOSE &amp; PROCESSING</a:t>
            </a: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</p:txBody>
      </p:sp>
      <p:sp>
        <p:nvSpPr>
          <p:cNvPr id="16" name="Freeform 13"/>
          <p:cNvSpPr/>
          <p:nvPr/>
        </p:nvSpPr>
        <p:spPr>
          <a:xfrm>
            <a:off x="428686" y="245334"/>
            <a:ext cx="1244599" cy="1223618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9177" y="266116"/>
            <a:ext cx="1372827" cy="123813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Box 13"/>
          <p:cNvSpPr txBox="1"/>
          <p:nvPr/>
        </p:nvSpPr>
        <p:spPr>
          <a:xfrm>
            <a:off x="854710" y="1127760"/>
            <a:ext cx="10716260" cy="6807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endParaRPr lang="en-US" alt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94615" y="1565275"/>
          <a:ext cx="11991975" cy="4867910"/>
        </p:xfrm>
        <a:graphic>
          <a:graphicData uri="http://schemas.openxmlformats.org/drawingml/2006/table">
            <a:tbl>
              <a:tblPr/>
              <a:tblGrid>
                <a:gridCol w="574040"/>
                <a:gridCol w="1557020"/>
                <a:gridCol w="3047365"/>
                <a:gridCol w="1674495"/>
                <a:gridCol w="1617980"/>
                <a:gridCol w="1808480"/>
                <a:gridCol w="1712595"/>
              </a:tblGrid>
              <a:tr h="28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S.No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Parameter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OLTP (Operational)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OLAP (DSS)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Key Distinction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OLTP Example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OLAP Example</a:t>
                      </a:r>
                      <a:endParaRPr lang="en-US" sz="17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861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Purpose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Support day-to-day business operations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Support strategic decision-making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Operational vs analytical goal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Process a customer order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Forecast next quarter's sales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1061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Processing Type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Short, simple, atomic transactions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Complex, long-running aggregate queries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Transaction vs analysis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INSERT / UPDATE a row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Multi-table JOIN + aggregation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9385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Schema Design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Normalized relational schema (3NF)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Denormalized star / snowflake schema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Schema design differs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Entity-relationship model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Fact &amp; dimension tables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802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Data Currency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Real-time, up-to-the-second data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Periodically refreshed, historical data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Freshness of data differs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Live inventory count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Monthly sales trend</a:t>
                      </a:r>
                      <a:endParaRPr lang="en-US" alt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9188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System Goal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Consistency &amp; fast response (ACID)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Insight, trends &amp; pattern discovery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Optimization goal differs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Commit a transaction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Discover a buying pattern</a:t>
                      </a:r>
                      <a:endParaRPr lang="en-US" sz="17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25008" marR="25008" marT="12504" marB="125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33550" cy="1657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850" y="0"/>
            <a:ext cx="1581150" cy="1419225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391478" y="198783"/>
            <a:ext cx="9511748" cy="20434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it-IT" alt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 OLTP </a:t>
            </a:r>
            <a:endParaRPr lang="it-IT" alt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alt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OLAP</a:t>
            </a:r>
            <a:r>
              <a:rPr lang="en-US" alt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69265" y="1722534"/>
            <a:ext cx="10820400" cy="5557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OLTP is optimized for speed: transactions complete in milliseconds.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OLAP queries take longer — seconds to minutes — due to large scan and aggregation volumes.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OLTP throughput is measured in transactions per second (TPS), often in the thousands.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OLAP throughput is measured in query response time over massive datasets.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OLTP systems favor high concurrency with row-level locking for consistency.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OLAP systems favor read-heavy, batch-oriented processing with fewer concurrent writers.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Indexing strategy differs: OLTP uses B-tree indexes; OLAP uses bitmap and columnar indexes.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en-US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33550" cy="1657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850" y="0"/>
            <a:ext cx="1581150" cy="1419225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337930" y="168965"/>
            <a:ext cx="11559210" cy="207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USE-CASE </a:t>
            </a:r>
            <a:endParaRPr lang="en-US" alt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SCENARIOS: WHEN TO USE EACH   </a:t>
            </a:r>
            <a:endParaRPr lang="en-US" alt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789940" y="2050415"/>
            <a:ext cx="11170920" cy="5557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OLTP: A bank processes a customer's fund transfer instantly and updates the balance.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OLTP: An e-commerce site records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each order and payment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as it happens.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OLTP: An airline reservation system books a seat and locks it to prevent double-booking.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OLAP: A retail chain analyzes five years of sales to find seasonal buying patterns.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OLAP: A bank's risk team aggregates loan data to build a credit-risk model.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OLAP: An airline studies </a:t>
            </a: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route profitability trends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over multiple quarters to plan capacity.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Together, OLTP feeds live data while OLAP turns it into strategic insight.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33550" cy="1657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850" y="0"/>
            <a:ext cx="1581150" cy="1419225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138555" y="-635"/>
            <a:ext cx="9869170" cy="2264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INTEGRATION: O</a:t>
            </a:r>
            <a:r>
              <a:rPr lang="en-US" altLang="en-IN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↔ DSS</a:t>
            </a:r>
            <a:r>
              <a:rPr lang="en-US" altLang="en-IN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ARCHITECTURE </a:t>
            </a:r>
            <a:endParaRPr lang="en-US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04744" y="2158753"/>
            <a:ext cx="6315075" cy="4425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Wingdings" panose="05000000000000000000" charset="0"/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33296" y="1534165"/>
            <a:ext cx="1608179" cy="895348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Business User / Analyst 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2386884" y="1372793"/>
            <a:ext cx="2806408" cy="11936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Integration Layer  (Security &amp; Governance) 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066154" y="1380546"/>
            <a:ext cx="2724281" cy="1185888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BI Dashboard  (Reports &amp; Visualization) 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588582" y="1487972"/>
            <a:ext cx="2540733" cy="125674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OLAP Engine  (Aggregation &amp; Analysis)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246966" y="3286083"/>
            <a:ext cx="2945034" cy="112335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Data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Warehouse  (Star/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Snowflake Schema) 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267450" y="3232150"/>
            <a:ext cx="2369185" cy="117729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ETL Pipeline  (Extract–Transform–Load) 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888680" y="3316799"/>
            <a:ext cx="1788778" cy="1106364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Integrate Hub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146653" y="2744719"/>
            <a:ext cx="3173793" cy="362598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57149" y="5209043"/>
            <a:ext cx="2065564" cy="909638"/>
          </a:xfrm>
          <a:prstGeom prst="ellipse">
            <a:avLst/>
          </a:prstGeom>
          <a:solidFill>
            <a:srgbClr val="3EFC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OLTP DB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Sales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30872" y="2855569"/>
            <a:ext cx="1648315" cy="832956"/>
          </a:xfrm>
          <a:prstGeom prst="ellipse">
            <a:avLst/>
          </a:prstGeom>
          <a:solidFill>
            <a:srgbClr val="3EFC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OLTP DB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Inventory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524311" y="3952004"/>
            <a:ext cx="2387854" cy="900470"/>
          </a:xfrm>
          <a:prstGeom prst="ellipse">
            <a:avLst/>
          </a:prstGeom>
          <a:solidFill>
            <a:srgbClr val="3EFC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️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OLTP DB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HR 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277995" y="5173345"/>
            <a:ext cx="1610360" cy="120015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OLTP DB (Finance)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869870" y="5222095"/>
            <a:ext cx="1786874" cy="1001147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Scheduled Refresh Jobs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638250" y="5113961"/>
            <a:ext cx="2220429" cy="1256747"/>
          </a:xfrm>
          <a:prstGeom prst="ellipse">
            <a:avLst/>
          </a:prstGeom>
          <a:solidFill>
            <a:srgbClr val="3EFC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Data-Driven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Decision Making</a:t>
            </a:r>
            <a:endParaRPr 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4" name="Arrow: Right 23"/>
          <p:cNvSpPr/>
          <p:nvPr/>
        </p:nvSpPr>
        <p:spPr>
          <a:xfrm>
            <a:off x="1647252" y="1769233"/>
            <a:ext cx="750717" cy="43497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/>
          <p:cNvSpPr/>
          <p:nvPr/>
        </p:nvSpPr>
        <p:spPr>
          <a:xfrm>
            <a:off x="5204378" y="1769233"/>
            <a:ext cx="891622" cy="43497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/>
          <p:cNvSpPr/>
          <p:nvPr/>
        </p:nvSpPr>
        <p:spPr>
          <a:xfrm>
            <a:off x="8820281" y="1769233"/>
            <a:ext cx="768301" cy="43497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/>
          <p:cNvSpPr/>
          <p:nvPr/>
        </p:nvSpPr>
        <p:spPr>
          <a:xfrm>
            <a:off x="10628277" y="2768516"/>
            <a:ext cx="461341" cy="54136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Left 27"/>
          <p:cNvSpPr/>
          <p:nvPr/>
        </p:nvSpPr>
        <p:spPr>
          <a:xfrm>
            <a:off x="8501928" y="3665862"/>
            <a:ext cx="731234" cy="442107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Left 28"/>
          <p:cNvSpPr/>
          <p:nvPr/>
        </p:nvSpPr>
        <p:spPr>
          <a:xfrm>
            <a:off x="5672328" y="3688526"/>
            <a:ext cx="581563" cy="396780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Left 29"/>
          <p:cNvSpPr/>
          <p:nvPr/>
        </p:nvSpPr>
        <p:spPr>
          <a:xfrm>
            <a:off x="3331917" y="3650740"/>
            <a:ext cx="559978" cy="472352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/>
          <p:cNvSpPr/>
          <p:nvPr/>
        </p:nvSpPr>
        <p:spPr>
          <a:xfrm>
            <a:off x="3331916" y="5486400"/>
            <a:ext cx="946176" cy="55035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/>
          <p:cNvSpPr/>
          <p:nvPr/>
        </p:nvSpPr>
        <p:spPr>
          <a:xfrm>
            <a:off x="5907959" y="5515012"/>
            <a:ext cx="992263" cy="49313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/>
          <p:cNvSpPr/>
          <p:nvPr/>
        </p:nvSpPr>
        <p:spPr>
          <a:xfrm>
            <a:off x="8656744" y="5544873"/>
            <a:ext cx="1022615" cy="46215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33550" cy="1657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850" y="0"/>
            <a:ext cx="1581150" cy="1419225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540565" y="287020"/>
            <a:ext cx="9154105" cy="197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CASE STUDY: RETAIL INDUSTRY</a:t>
            </a:r>
            <a:endParaRPr lang="en-US" alt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30555" y="1887220"/>
            <a:ext cx="10921365" cy="4743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OLTP layer: point-of-sale systems record every purchase transaction in real time.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Nightly ETL jobs extract, clean, and load sales data into a central data warehouse.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OLAP layer: analysts run multidimensional queries to compare sales by region, product, and time.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Retailers like Walmart and Amazon use this integration to optimize inventory and pricing.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Dashboards give managers a near real-time view of stock levels and demand trends.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Predictive analytics on OLAP data forecasts demand and informs restocking decisions.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Result: reduced stockouts, optimized pricing, and data-driven business strategy.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33550" cy="1657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850" y="0"/>
            <a:ext cx="1581150" cy="1419225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504315" y="307975"/>
            <a:ext cx="9524365" cy="1955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US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94995" y="1716405"/>
            <a:ext cx="11024235" cy="4425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OLTP Advantage: extremely fast response times for day-to-day transactions.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OLTP Limitation: poor at answering complex, multi-year analytical questions.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OLAP Advantage: powerful for trend analysis, forecasting, and strategic planning.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OLAP Limitation: queries are slower and data is not always up-to-the-second.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Running analytics directly on an OLTP database can slow down live operations.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Maintaining a separate OLAP warehouse adds ETL complexity and storage cost.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Using both together balances operational speed with analytical depth.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33550" cy="1657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850" y="0"/>
            <a:ext cx="1581150" cy="1419225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995805" y="278295"/>
            <a:ext cx="8698865" cy="19854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COURSE OUTCOME (CO1)</a:t>
            </a:r>
            <a:endParaRPr lang="en-US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48478" y="1294091"/>
            <a:ext cx="11807687" cy="44259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CO1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– Design data warehouse architectures with appropriate dimensional models to support effective decision-making using DSS.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Dimensional Modeling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– Apply star and snowflake schema design to structure data for analytical queries.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OLAP &amp; DSS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– Use OLAP techniques to enable multidimensional analysis and business insight.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ETL Processes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– Design pipelines to extract, transform, and load data from OLTP sources into a warehouse.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Business Intelligence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– Apply BI tools to turn warehouse data into actionable reports and dashboards.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Bloom's Level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– Mapped to BL1 (Remember) and BL2 (Understand) cognitive levels. 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Learning Outcome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– Students can distinguish OLTP (operational) needs from OLAP/DSS (analytical) needs and design accordingly.</a:t>
            </a:r>
            <a:endParaRPr 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66988" y="2643816"/>
            <a:ext cx="8258025" cy="157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05"/>
              </a:lnSpc>
            </a:pPr>
            <a:r>
              <a:rPr lang="en-US" sz="8790" b="1" dirty="0">
                <a:solidFill>
                  <a:srgbClr val="000000"/>
                </a:solidFill>
                <a:latin typeface="Times New Roman" panose="02020603050405020304" pitchFamily="18" charset="0"/>
                <a:ea typeface="Schoolbell"/>
                <a:cs typeface="Times New Roman" panose="02020603050405020304" pitchFamily="18" charset="0"/>
                <a:sym typeface="Schoolbell"/>
              </a:rPr>
              <a:t>THANK YOU !!</a:t>
            </a:r>
            <a:endParaRPr lang="en-US" sz="8790" b="1" dirty="0">
              <a:solidFill>
                <a:srgbClr val="000000"/>
              </a:solidFill>
              <a:latin typeface="Times New Roman" panose="02020603050405020304" pitchFamily="18" charset="0"/>
              <a:ea typeface="Schoolbell"/>
              <a:cs typeface="Times New Roman" panose="02020603050405020304" pitchFamily="18" charset="0"/>
              <a:sym typeface="Schoolbell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1145962" y="-659780"/>
            <a:ext cx="720477" cy="1971123"/>
            <a:chOff x="0" y="0"/>
            <a:chExt cx="284633" cy="7787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52902" y="6535896"/>
            <a:ext cx="12897803" cy="547945"/>
            <a:chOff x="0" y="0"/>
            <a:chExt cx="5095428" cy="2164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5562" y="-659780"/>
            <a:ext cx="720477" cy="1971123"/>
            <a:chOff x="0" y="0"/>
            <a:chExt cx="284633" cy="7787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4" name="Freeform 13"/>
          <p:cNvSpPr/>
          <p:nvPr/>
        </p:nvSpPr>
        <p:spPr>
          <a:xfrm>
            <a:off x="428686" y="245334"/>
            <a:ext cx="1244599" cy="1223618"/>
          </a:xfrm>
          <a:custGeom>
            <a:avLst/>
            <a:gdLst/>
            <a:ahLst/>
            <a:cxnLst/>
            <a:rect l="l" t="t" r="r" b="b"/>
            <a:pathLst>
              <a:path w="2346667" h="2522119">
                <a:moveTo>
                  <a:pt x="0" y="0"/>
                </a:moveTo>
                <a:lnTo>
                  <a:pt x="2346667" y="0"/>
                </a:lnTo>
                <a:lnTo>
                  <a:pt x="2346667" y="2522119"/>
                </a:lnTo>
                <a:lnTo>
                  <a:pt x="0" y="25221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9177" y="266116"/>
            <a:ext cx="1372827" cy="123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34*407"/>
  <p:tag name="TABLE_ENDDRAG_RECT" val="0*127*934*407"/>
</p:tagLst>
</file>

<file path=ppt/tags/tag2.xml><?xml version="1.0" encoding="utf-8"?>
<p:tagLst xmlns:p="http://schemas.openxmlformats.org/presentationml/2006/main">
  <p:tag name="TABLE_ENDDRAG_ORIGIN_RECT" val="944*383"/>
  <p:tag name="TABLE_ENDDRAG_RECT" val="7*123*944*38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7515</Words>
  <Application>WPS Presentation</Application>
  <PresentationFormat>Widescreen</PresentationFormat>
  <Paragraphs>322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SimSun</vt:lpstr>
      <vt:lpstr>Wingdings</vt:lpstr>
      <vt:lpstr>Times New Roman</vt:lpstr>
      <vt:lpstr>Celandine</vt:lpstr>
      <vt:lpstr>Segoe Print</vt:lpstr>
      <vt:lpstr>Playfair Display Bold</vt:lpstr>
      <vt:lpstr>Century Gothic Paneuropean Bold</vt:lpstr>
      <vt:lpstr>Times</vt:lpstr>
      <vt:lpstr>Schoolbell</vt:lpstr>
      <vt:lpstr>Wingdings</vt:lpstr>
      <vt:lpstr>Calibri</vt:lpstr>
      <vt:lpstr>Microsoft YaHei</vt:lpstr>
      <vt:lpstr>Arial Unicode MS</vt:lpstr>
      <vt:lpstr>Calibri Light</vt:lpstr>
      <vt:lpstr>Century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s parveen</cp:lastModifiedBy>
  <cp:revision>35</cp:revision>
  <dcterms:created xsi:type="dcterms:W3CDTF">2025-08-03T10:23:00Z</dcterms:created>
  <dcterms:modified xsi:type="dcterms:W3CDTF">2026-07-28T03:24:28Z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52AABF16F0CB4DFD8432F0E1E1322C6F_12</vt:lpwstr>
  </property>
  <property fmtid="{D5CDD505-2E9C-101B-9397-08002B2CF9AE}" pid="3" name="KSOProductBuildVer">
    <vt:lpwstr>1033-12.1.0.27458</vt:lpwstr>
  </property>
</Properties>
</file>